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34"/>
    <p:restoredTop sz="94669"/>
  </p:normalViewPr>
  <p:slideViewPr>
    <p:cSldViewPr snapToGrid="0" snapToObjects="1">
      <p:cViewPr varScale="1">
        <p:scale>
          <a:sx n="114" d="100"/>
          <a:sy n="114" d="100"/>
        </p:scale>
        <p:origin x="664" y="1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3749039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749039"/>
            <a:ext cx="12188952" cy="73152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64008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B388"/>
                </a:solidFill>
              </a:rPr>
              <a:t>介護ナビゲーター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0020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Kaigo Navigator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E2E8F0"/>
                </a:solidFill>
              </a:rPr>
              <a:t>Autonomous Multi-Agent AI for Japan's Eldercare Crisis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0" y="2926080"/>
            <a:ext cx="3017520" cy="36576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0632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E2E8F0"/>
                </a:solidFill>
              </a:rPr>
              <a:t>One request  ·  Five AI agents  ·  Full care plan in 15 seconds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160520"/>
            <a:ext cx="3017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841248" y="4160520"/>
            <a:ext cx="3017520" cy="457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42976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388"/>
                </a:solidFill>
              </a:rPr>
              <a:t>15 sec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9103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</a:rPr>
              <a:t>End-to-end pipeline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33672" y="4160520"/>
            <a:ext cx="3017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233672" y="4160520"/>
            <a:ext cx="3017520" cy="457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233672" y="42976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388"/>
                </a:solidFill>
              </a:rPr>
              <a:t>5 agents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33672" y="49103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</a:rPr>
              <a:t>Working in parallel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26096" y="4160520"/>
            <a:ext cx="301752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626096" y="4160520"/>
            <a:ext cx="3017520" cy="457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626096" y="4297680"/>
            <a:ext cx="3017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00B388"/>
                </a:solidFill>
              </a:rPr>
              <a:t>3 forms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4910328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</a:rPr>
              <a:t>Pre-filled by AI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4739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Built by Ganesh Suni Jathar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48055" y="736093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718096"/>
                </a:solidFill>
              </a:rPr>
              <a:t>Japan is aging faster than any country in history — the care system hasn't kept up.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21207" y="123444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21207" y="1234440"/>
            <a:ext cx="2560320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21207" y="139903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2A"/>
                </a:solidFill>
              </a:rPr>
              <a:t>30%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7" y="21488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5568"/>
                </a:solidFill>
              </a:rPr>
              <a:t>Population
over 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7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18096"/>
                </a:solidFill>
              </a:rPr>
              <a:t>Highest globally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19855" y="123444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19855" y="1234440"/>
            <a:ext cx="2560320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19855" y="139903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2A"/>
                </a:solidFill>
              </a:rPr>
              <a:t>11 Million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5" y="21488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5568"/>
                </a:solidFill>
              </a:rPr>
              <a:t>Care worker
shortage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5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18096"/>
                </a:solidFill>
              </a:rPr>
              <a:t>Projected by 2040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8503" y="123444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318503" y="1234440"/>
            <a:ext cx="2560320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318503" y="139903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2A"/>
                </a:solidFill>
              </a:rPr>
              <a:t>4–6 Weeks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18503" y="21488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5568"/>
                </a:solidFill>
              </a:rPr>
              <a:t>To complete
介護保険 application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18503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18096"/>
                </a:solidFill>
              </a:rPr>
              <a:t>Per patient, manually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217151" y="1234440"/>
            <a:ext cx="256032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217151" y="1234440"/>
            <a:ext cx="2560320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217151" y="1399032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0D1B2A"/>
                </a:solidFill>
              </a:rPr>
              <a:t>3–7 Forms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17151" y="2148840"/>
            <a:ext cx="25603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4A5568"/>
                </a:solidFill>
              </a:rPr>
              <a:t>Per patient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1" y="28346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18096"/>
                </a:solidFill>
              </a:rPr>
              <a:t>All Japanese bureaucracy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749039"/>
            <a:ext cx="11064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Families spend weeks manually matching facilities, filling kanji-dense government forms, and coordinating visit schedules — often with no professional guidance. Coordinators are overwhelmed. Facilities go unmatched. Patients wait.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663440"/>
            <a:ext cx="11064240" cy="804672"/>
          </a:xfrm>
          <a:prstGeom prst="rect">
            <a:avLst/>
          </a:prstGeom>
          <a:solidFill>
            <a:srgbClr val="E6F7F3"/>
          </a:solidFill>
          <a:ln w="12700">
            <a:solidFill>
              <a:srgbClr val="00B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48640" y="4663440"/>
            <a:ext cx="64008" cy="804672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749808" y="4754880"/>
            <a:ext cx="106984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7A5E"/>
                </a:solidFill>
              </a:rPr>
              <a:t>💡  Kaigo Navigator replaces weeks of manual work with a 15-second AI pipeline.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4612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3192" y="70408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718096"/>
                </a:solidFill>
              </a:rPr>
              <a:t>5 AI Agents · One Pipeline · Human Always in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384048" y="1033271"/>
            <a:ext cx="11402568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93192" y="1234440"/>
            <a:ext cx="212140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93192" y="1234440"/>
            <a:ext cx="2121408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30352" y="1371600"/>
            <a:ext cx="475488" cy="2743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30352" y="135331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1737360"/>
            <a:ext cx="19019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Orchestrator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40280"/>
            <a:ext cx="1901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Routes requests,
manages LangGraph 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" y="3593592"/>
            <a:ext cx="1792224" cy="347472"/>
          </a:xfrm>
          <a:prstGeom prst="rect">
            <a:avLst/>
          </a:prstGeom>
          <a:solidFill>
            <a:srgbClr val="E6F7F3"/>
          </a:solidFill>
          <a:ln w="6350">
            <a:solidFill>
              <a:srgbClr val="00B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7784" y="359359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5E"/>
                </a:solidFill>
              </a:rPr>
              <a:t>Llama 3.3 70B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06624" y="1234440"/>
            <a:ext cx="212140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2706624" y="1234440"/>
            <a:ext cx="2121408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843784" y="1371600"/>
            <a:ext cx="475488" cy="2743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843784" y="135331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16352" y="1737360"/>
            <a:ext cx="19019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Service Discovery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16352" y="2240280"/>
            <a:ext cx="1901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Maps needs → 介護保険 codes
RAG over facility DB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871216" y="3593592"/>
            <a:ext cx="1792224" cy="347472"/>
          </a:xfrm>
          <a:prstGeom prst="rect">
            <a:avLst/>
          </a:prstGeom>
          <a:solidFill>
            <a:srgbClr val="E6F7F3"/>
          </a:solidFill>
          <a:ln w="6350">
            <a:solidFill>
              <a:srgbClr val="00B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2871216" y="359359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5E"/>
                </a:solidFill>
              </a:rPr>
              <a:t>Llama 3.3 70B + RAG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0056" y="1234440"/>
            <a:ext cx="212140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0056" y="1234440"/>
            <a:ext cx="2121408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157216" y="1371600"/>
            <a:ext cx="475488" cy="2743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157216" y="135331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29784" y="1737360"/>
            <a:ext cx="19019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Paperwork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29784" y="2240280"/>
            <a:ext cx="1901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Pre-fills all required
government forms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184648" y="3593592"/>
            <a:ext cx="1792224" cy="347472"/>
          </a:xfrm>
          <a:prstGeom prst="rect">
            <a:avLst/>
          </a:prstGeom>
          <a:solidFill>
            <a:srgbClr val="E6F7F3"/>
          </a:solidFill>
          <a:ln w="6350">
            <a:solidFill>
              <a:srgbClr val="00B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84648" y="359359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5E"/>
                </a:solidFill>
              </a:rPr>
              <a:t>Llama 3.1 8B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333488" y="1234440"/>
            <a:ext cx="212140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33488" y="1234440"/>
            <a:ext cx="2121408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7470648" y="1371600"/>
            <a:ext cx="475488" cy="2743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470648" y="135331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43216" y="1737360"/>
            <a:ext cx="19019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Scheduling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43216" y="2240280"/>
            <a:ext cx="1901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4-week visit calendar
+ LINE reminders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98080" y="3593592"/>
            <a:ext cx="1792224" cy="347472"/>
          </a:xfrm>
          <a:prstGeom prst="rect">
            <a:avLst/>
          </a:prstGeom>
          <a:solidFill>
            <a:srgbClr val="E6F7F3"/>
          </a:solidFill>
          <a:ln w="6350">
            <a:solidFill>
              <a:srgbClr val="00B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98080" y="359359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5E"/>
                </a:solidFill>
              </a:rPr>
              <a:t>Rule-based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646920" y="1234440"/>
            <a:ext cx="2121408" cy="2834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9646920" y="1234440"/>
            <a:ext cx="2121408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784080" y="1371600"/>
            <a:ext cx="475488" cy="2743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784080" y="1353312"/>
            <a:ext cx="47548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6648" y="1737360"/>
            <a:ext cx="19019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D1B2A"/>
                </a:solidFill>
              </a:rPr>
              <a:t>Monitoring Agent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56648" y="2240280"/>
            <a:ext cx="1901952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A5568"/>
                </a:solidFill>
              </a:rPr>
              <a:t>Scores care plan 0–100
Surfaces risk alerts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811512" y="3593592"/>
            <a:ext cx="1792224" cy="347472"/>
          </a:xfrm>
          <a:prstGeom prst="rect">
            <a:avLst/>
          </a:prstGeom>
          <a:solidFill>
            <a:srgbClr val="E6F7F3"/>
          </a:solidFill>
          <a:ln w="6350">
            <a:solidFill>
              <a:srgbClr val="00B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9811512" y="3593592"/>
            <a:ext cx="17922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7A5E"/>
                </a:solidFill>
              </a:rPr>
              <a:t>Llama 3.1 8B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93192" y="4251960"/>
            <a:ext cx="11402568" cy="658368"/>
          </a:xfrm>
          <a:prstGeom prst="rect">
            <a:avLst/>
          </a:prstGeom>
          <a:solidFill>
            <a:srgbClr val="FFF8E6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393192" y="4251960"/>
            <a:ext cx="64008" cy="6583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94360" y="4325112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24000"/>
                </a:solidFill>
              </a:rPr>
              <a:t>⏸  Human-in-the-loop gate fires before any form submission — coordinator reviews and approves with one click.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3192" y="5120640"/>
            <a:ext cx="1719072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38912" y="5138928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LangGraph 0.6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295144" y="5120640"/>
            <a:ext cx="1719072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2340864" y="5138928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FastAPI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97096" y="5120640"/>
            <a:ext cx="1719072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4242816" y="5138928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Next.js 16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99048" y="5120640"/>
            <a:ext cx="1719072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6144768" y="5138928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Pinecone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8001000" y="5120640"/>
            <a:ext cx="1719072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8046720" y="5138928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Groq (Llama)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902952" y="5120640"/>
            <a:ext cx="1719072" cy="329184"/>
          </a:xfrm>
          <a:prstGeom prst="rect">
            <a:avLst/>
          </a:prstGeom>
          <a:solidFill>
            <a:srgbClr val="F4F6F9"/>
          </a:solidFill>
          <a:ln w="63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948672" y="5138928"/>
            <a:ext cx="162763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D1B2A"/>
                </a:solidFill>
              </a:rPr>
              <a:t>Langfuse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Demo Walkthrough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3035" y="758952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718096"/>
                </a:solidFill>
              </a:rPr>
              <a:t>4 steps · ~15 seconds · coordinator stays in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7"/>
            <a:ext cx="11183112" cy="45719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2633472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2633472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94360" y="1362456"/>
            <a:ext cx="658368" cy="2743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344168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737360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Submit
Care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468880"/>
            <a:ext cx="235915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Describe patient needs in
Japanese or English.
System identifies 介護保険
service codes + ward.
Submits to 5-agent pipeline.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234440"/>
            <a:ext cx="2633472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337560" y="1234440"/>
            <a:ext cx="2633472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474720" y="1362456"/>
            <a:ext cx="658368" cy="2743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1344168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1737360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Watch
Agents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468880"/>
            <a:ext cx="235915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Pipeline animates in real time.
5 agents run in sequence:
intake → discovery → paperwork.
Completes in ~15 seconds.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1234440"/>
            <a:ext cx="2633472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217920" y="1234440"/>
            <a:ext cx="2633472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1362456"/>
            <a:ext cx="658368" cy="2743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5080" y="1344168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55080" y="1737360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Human Reviews
&amp; Approves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468880"/>
            <a:ext cx="235915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Coordinator sees ranked
facilities with match scores.
All required forms pre-filled.
Single click approves —
pipeline resumes.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98280" y="1234440"/>
            <a:ext cx="2633472" cy="42519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9098280" y="1234440"/>
            <a:ext cx="2633472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9235440" y="1362456"/>
            <a:ext cx="658368" cy="27432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235440" y="1344168"/>
            <a:ext cx="6583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Step 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35440" y="1737360"/>
            <a:ext cx="2359152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D1B2A"/>
                </a:solidFill>
              </a:rPr>
              <a:t>Complete
Care Plan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35440" y="2468880"/>
            <a:ext cx="2359152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4-week visit calendar
auto-generated.
Care plan scored 0–100
with risk alerts.
LINE templates ready to send.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669280"/>
            <a:ext cx="11247120" cy="658368"/>
          </a:xfrm>
          <a:prstGeom prst="rect">
            <a:avLst/>
          </a:prstGeom>
          <a:solidFill>
            <a:srgbClr val="E6F7F3"/>
          </a:solidFill>
          <a:ln w="12700">
            <a:solidFill>
              <a:srgbClr val="00B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57200" y="5669280"/>
            <a:ext cx="64008" cy="65836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58368" y="5760720"/>
            <a:ext cx="10881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07A5E"/>
                </a:solidFill>
              </a:rPr>
              <a:t>⏱  ~15 sec end-to-end  ·  3 forms pre-filled  ·  3 facilities ranked  ·  ~4 hours of paperwork saved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3053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Live Use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133855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 dirty="0">
                <a:solidFill>
                  <a:srgbClr val="718096"/>
                </a:solidFill>
              </a:rPr>
              <a:t>Post-stroke patient · </a:t>
            </a:r>
            <a:r>
              <a:rPr sz="1400" b="0" i="1" dirty="0" err="1">
                <a:solidFill>
                  <a:srgbClr val="718096"/>
                </a:solidFill>
              </a:rPr>
              <a:t>世田谷区</a:t>
            </a:r>
            <a:r>
              <a:rPr sz="1400" b="0" i="1" dirty="0">
                <a:solidFill>
                  <a:srgbClr val="718096"/>
                </a:solidFill>
              </a:rPr>
              <a:t> · </a:t>
            </a:r>
            <a:r>
              <a:rPr sz="1400" b="0" i="1" dirty="0" err="1">
                <a:solidFill>
                  <a:srgbClr val="718096"/>
                </a:solidFill>
              </a:rPr>
              <a:t>介護度</a:t>
            </a:r>
            <a:r>
              <a:rPr sz="1400" b="0" i="1" dirty="0">
                <a:solidFill>
                  <a:srgbClr val="718096"/>
                </a:solidFill>
              </a:rPr>
              <a:t>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512064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5120640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307592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Patient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173736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388"/>
                </a:solidFill>
              </a:rPr>
              <a:t>Name: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74519" y="173736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田中 花子 (Tanaka Hanako)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039112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388"/>
                </a:solidFill>
              </a:rPr>
              <a:t>Age: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039112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78 years old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3408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388"/>
                </a:solidFill>
              </a:rPr>
              <a:t>Ward: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74519" y="2340864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世田谷区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6426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388"/>
                </a:solidFill>
              </a:rPr>
              <a:t>Care Level: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74519" y="2642616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介護度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2944368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388"/>
                </a:solidFill>
              </a:rPr>
              <a:t>Condition: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2944368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Post-stroke (脳梗塞後遺症)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32461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388"/>
                </a:solidFill>
              </a:rPr>
              <a:t>Needs: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3246120"/>
            <a:ext cx="3566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週2回のデイサービスと週2回のリハビリが必要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7866" y="1219497"/>
            <a:ext cx="5760720" cy="24231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127866" y="1219497"/>
            <a:ext cx="5760720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080760" y="1307592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B2A"/>
                </a:solidFill>
              </a:rPr>
              <a:t>AI Pipeline Output  (15 sec)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80760" y="1737360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388"/>
                </a:solidFill>
              </a:rPr>
              <a:t>Service Codes: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173736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21 (通所介護)  ·  22 (通所リハビリ)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80760" y="2048256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388"/>
                </a:solidFill>
              </a:rPr>
              <a:t>Top Facility: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92440" y="2048256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世田谷デイサービスセンター  ·  Score: 88/100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080760" y="2359152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388"/>
                </a:solidFill>
              </a:rPr>
              <a:t>Forms Pre-filled: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35915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介護認定申請書, 通所介護利用申込書, 通所リハビリ申込書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80760" y="2670048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388"/>
                </a:solidFill>
              </a:rPr>
              <a:t>Schedule: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92440" y="2670048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Mon+Thu Day Service, Tue+Fri Rehab  ·  4 weeks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80760" y="29809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B388"/>
                </a:solidFill>
              </a:rPr>
              <a:t>Care Plan Score: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298094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</a:rPr>
              <a:t>82 / 100  ·  Risk Level: Low ✅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75908" y="3840480"/>
            <a:ext cx="5201932" cy="2331720"/>
          </a:xfrm>
          <a:prstGeom prst="rect">
            <a:avLst/>
          </a:prstGeom>
          <a:solidFill>
            <a:srgbClr val="FFF5F5"/>
          </a:solidFill>
          <a:ln w="9525">
            <a:solidFill>
              <a:srgbClr val="E5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 flipH="1">
            <a:off x="375908" y="3817620"/>
            <a:ext cx="5201932" cy="96012"/>
          </a:xfrm>
          <a:prstGeom prst="rect">
            <a:avLst/>
          </a:prstGeom>
          <a:solidFill>
            <a:srgbClr val="E5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58368" y="39136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53E3E"/>
                </a:solidFill>
              </a:rPr>
              <a:t>❌  Without Kaigo Navigator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9808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·  4–6 weeks of manual form filling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9808" y="47365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·  Family researches facilities independently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5084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·  No scoring — purely subjective decisions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49808" y="54315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·  Reminders managed by phone calls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64124" y="4764024"/>
            <a:ext cx="640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 dirty="0">
                <a:solidFill>
                  <a:srgbClr val="718096"/>
                </a:solidFill>
              </a:rPr>
              <a:t>VS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152908" y="3840480"/>
            <a:ext cx="5734292" cy="2331720"/>
          </a:xfrm>
          <a:prstGeom prst="rect">
            <a:avLst/>
          </a:prstGeom>
          <a:solidFill>
            <a:srgbClr val="E6F7F3"/>
          </a:solidFill>
          <a:ln w="9525">
            <a:solidFill>
              <a:srgbClr val="00B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 rot="5400000">
            <a:off x="8997192" y="968762"/>
            <a:ext cx="45719" cy="5734291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56248" y="3913632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7A5E"/>
                </a:solidFill>
              </a:rPr>
              <a:t>✅  With Kaigo Navigator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647688" y="438912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·  15 seconds — fully automated pipeline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647688" y="473659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·  3 facilities ranked with AI match scores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47688" y="508406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·  3 forms pre-filled, ready to submit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47688" y="543153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·  LINE reminders auto-generated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What Makes This Different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64008" cy="1078992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58368" y="1463040"/>
            <a:ext cx="457200" cy="457200"/>
          </a:xfrm>
          <a:prstGeom prst="rect">
            <a:avLst/>
          </a:prstGeom>
          <a:solidFill>
            <a:srgbClr val="E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58368" y="144475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5568"/>
                </a:solidFill>
              </a:rPr>
              <a:t>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28016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Human-in-the-Loop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169164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Pipeline halts before any submission. State persists across the HTTP pause. Coordinator reviews and approves — AI does the legwork, humans stay in control.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423160"/>
            <a:ext cx="11247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423160"/>
            <a:ext cx="64008" cy="1078992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58368" y="2697480"/>
            <a:ext cx="457200" cy="457200"/>
          </a:xfrm>
          <a:prstGeom prst="rect">
            <a:avLst/>
          </a:prstGeom>
          <a:solidFill>
            <a:srgbClr val="E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58368" y="267919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5568"/>
                </a:solidFill>
              </a:rPr>
              <a:t>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98448" y="251460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Bilingual Throughout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98448" y="292608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Every agent prompt, form field, ranked explanation, and dashboard label is in Japanese and English simultaneously. No switching, no translation step.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57600"/>
            <a:ext cx="11247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3657600"/>
            <a:ext cx="64008" cy="1078992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58368" y="3931920"/>
            <a:ext cx="457200" cy="457200"/>
          </a:xfrm>
          <a:prstGeom prst="rect">
            <a:avLst/>
          </a:prstGeom>
          <a:solidFill>
            <a:srgbClr val="E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58368" y="391363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5568"/>
                </a:solidFill>
              </a:rPr>
              <a:t>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74904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Graceful Degradation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416052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Every LLM call has a deterministic rule-based fallback. If Groq is down, the pipeline completes with heuristic output. It never crashes.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4892040"/>
            <a:ext cx="11247120" cy="10789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457200" y="4892040"/>
            <a:ext cx="64008" cy="1078992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658368" y="5166360"/>
            <a:ext cx="457200" cy="457200"/>
          </a:xfrm>
          <a:prstGeom prst="rect">
            <a:avLst/>
          </a:prstGeom>
          <a:solidFill>
            <a:srgbClr val="E6F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58368" y="5148072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4A5568"/>
                </a:solidFill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98448" y="4983480"/>
            <a:ext cx="9875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D1B2A"/>
                </a:solidFill>
              </a:rPr>
              <a:t>Live Government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98448" y="5394960"/>
            <a:ext cx="987552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Scraper pulls directly from MHLW's 介護サービス情報公表システム — Japan's official care facility registry — with ward-level filtering across all 23 Tokyo wards.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Tech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92024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17007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1188720"/>
            <a:ext cx="338328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87168" y="1234440"/>
            <a:ext cx="31638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Technology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0" y="1188720"/>
            <a:ext cx="5486400" cy="3657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870448" y="1234440"/>
            <a:ext cx="52669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Role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572768"/>
            <a:ext cx="19202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66928" y="1664208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5E"/>
                </a:solidFill>
              </a:rPr>
              <a:t>UI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1572768"/>
            <a:ext cx="33832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487168" y="1664208"/>
            <a:ext cx="3163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Next.js 16 + Tailwind CSS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760720" y="1572768"/>
            <a:ext cx="5486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870448" y="1664208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3-page care coordinator interface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2093975"/>
            <a:ext cx="1920240" cy="5029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66928" y="2185415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5E"/>
                </a:solidFill>
              </a:rPr>
              <a:t>API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093975"/>
            <a:ext cx="3383280" cy="5029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487168" y="2185415"/>
            <a:ext cx="3163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FastAPI + Pydantic v2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093975"/>
            <a:ext cx="5486400" cy="5029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870448" y="2185415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REST layer, async, auto-documented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615182"/>
            <a:ext cx="19202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6928" y="2706622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5E"/>
                </a:solidFill>
              </a:rPr>
              <a:t>Orchestration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2615182"/>
            <a:ext cx="33832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487168" y="2706622"/>
            <a:ext cx="3163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LangGraph 0.6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2615182"/>
            <a:ext cx="5486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870448" y="2706622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Stateful multi-agent graph + HITL interrupt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3136389"/>
            <a:ext cx="1920240" cy="5029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566928" y="3227829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5E"/>
                </a:solidFill>
              </a:rPr>
              <a:t>LLM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3136389"/>
            <a:ext cx="3383280" cy="5029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487168" y="3227829"/>
            <a:ext cx="3163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Groq — Llama 3.3 70B / 3.1 8B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60720" y="3136389"/>
            <a:ext cx="5486400" cy="5029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870448" y="3227829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Sub-second inference, bilingual JP+EN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657596"/>
            <a:ext cx="19202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66928" y="3749036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5E"/>
                </a:solidFill>
              </a:rPr>
              <a:t>Vector DB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3657596"/>
            <a:ext cx="33832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2487168" y="3749036"/>
            <a:ext cx="3163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Pinecone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760720" y="3657596"/>
            <a:ext cx="5486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870448" y="3749036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Ward + service code metadata filtering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4178803"/>
            <a:ext cx="1920240" cy="5029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66928" y="4270243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5E"/>
                </a:solidFill>
              </a:rPr>
              <a:t>Embeddings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377440" y="4178803"/>
            <a:ext cx="3383280" cy="5029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2487168" y="4270243"/>
            <a:ext cx="3163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multilingual-e5-large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760720" y="4178803"/>
            <a:ext cx="5486400" cy="5029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70448" y="4270243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JP + EN in the same vector space, local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57200" y="4700010"/>
            <a:ext cx="192024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66928" y="4791450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5E"/>
                </a:solidFill>
              </a:rPr>
              <a:t>Observability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377440" y="4700010"/>
            <a:ext cx="338328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487168" y="4791450"/>
            <a:ext cx="3163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Langfuse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4700010"/>
            <a:ext cx="54864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870448" y="4791450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Full trace on every agent step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7200" y="5221217"/>
            <a:ext cx="1920240" cy="5029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66928" y="5312657"/>
            <a:ext cx="170078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A5E"/>
                </a:solidFill>
              </a:rPr>
              <a:t>State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377440" y="5221217"/>
            <a:ext cx="3383280" cy="5029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487168" y="5312657"/>
            <a:ext cx="31638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D1B2A"/>
                </a:solidFill>
              </a:rPr>
              <a:t>SQLite + langgraph-checkpoint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60720" y="5221217"/>
            <a:ext cx="5486400" cy="502920"/>
          </a:xfrm>
          <a:prstGeom prst="rect">
            <a:avLst/>
          </a:prstGeom>
          <a:solidFill>
            <a:srgbClr val="F4F6F9"/>
          </a:solidFill>
          <a:ln w="381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5870448" y="5312657"/>
            <a:ext cx="526694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</a:rPr>
              <a:t>HITL pause/resume across HTTP requests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20116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0D1B2A"/>
                </a:solidFill>
              </a:rPr>
              <a:t>Project Status &amp; Roadmap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24128"/>
            <a:ext cx="1106424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11247120" cy="1005840"/>
          </a:xfrm>
          <a:prstGeom prst="rect">
            <a:avLst/>
          </a:prstGeom>
          <a:solidFill>
            <a:srgbClr val="E6F7F3"/>
          </a:solidFill>
          <a:ln w="9525">
            <a:solidFill>
              <a:srgbClr val="00B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64008" cy="10058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85800" y="128016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✅  Phase 1 — Complete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171907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RAG pipeline  ·  Service Discovery  ·  Langfuse observability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77440"/>
            <a:ext cx="11247120" cy="1005840"/>
          </a:xfrm>
          <a:prstGeom prst="rect">
            <a:avLst/>
          </a:prstGeom>
          <a:solidFill>
            <a:srgbClr val="E6F7F3"/>
          </a:solidFill>
          <a:ln w="9525">
            <a:solidFill>
              <a:srgbClr val="00B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457200" y="2377440"/>
            <a:ext cx="64008" cy="10058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2468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✅  Phase 2 — Complete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0779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Paperwork Agent  ·  Human-in-the-loop approval gate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11247120" cy="1005840"/>
          </a:xfrm>
          <a:prstGeom prst="rect">
            <a:avLst/>
          </a:prstGeom>
          <a:solidFill>
            <a:srgbClr val="E6F7F3"/>
          </a:solidFill>
          <a:ln w="9525">
            <a:solidFill>
              <a:srgbClr val="00B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64008" cy="1005840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85800" y="365760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B2A"/>
                </a:solidFill>
              </a:rPr>
              <a:t>✅  Phase 3 — Complete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09651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Scheduling Agent  ·  Monitoring Agent  ·  Next.js UI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754880"/>
            <a:ext cx="11247120" cy="1005840"/>
          </a:xfrm>
          <a:prstGeom prst="rect">
            <a:avLst/>
          </a:prstGeom>
          <a:solidFill>
            <a:srgbClr val="FFF8E6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457200" y="4754880"/>
            <a:ext cx="64008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5800" y="484632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 dirty="0">
                <a:solidFill>
                  <a:srgbClr val="924000"/>
                </a:solidFill>
              </a:rPr>
              <a:t>🔄  Phase 4 — In Progress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85232"/>
            <a:ext cx="10424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</a:rPr>
              <a:t>Eval harness (50 synthetic cases)  ·  Cloud deployment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989320"/>
            <a:ext cx="11247120" cy="18288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0807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718096"/>
                </a:solidFill>
              </a:rPr>
              <a:t>Phases 1–3 fully functional and demo-ready today.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92608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Let's Build This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08760"/>
            <a:ext cx="9418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0">
                <a:solidFill>
                  <a:srgbClr val="E2E8F0"/>
                </a:solidFill>
              </a:rPr>
              <a:t>Kaigo Navigator is built and running.
Phases 1–3 are complete and demo-ready today.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3337560"/>
            <a:ext cx="3291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41248" y="3337560"/>
            <a:ext cx="3291840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41248" y="3520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5568"/>
                </a:solidFill>
              </a:rPr>
              <a:t>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Live Demo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8408" y="45720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</a:rPr>
              <a:t>Submit a real care request
and watch 5 agents run live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36008" y="3337560"/>
            <a:ext cx="3291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636008" y="3337560"/>
            <a:ext cx="3291840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36008" y="3520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5568"/>
                </a:solidFill>
              </a:rPr>
              <a:t>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GitHub Repo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73168" y="45720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</a:rPr>
              <a:t>Full source code, README,
and interactive API docs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0768" y="3337560"/>
            <a:ext cx="3291840" cy="21945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430768" y="3337560"/>
            <a:ext cx="3291840" cy="64008"/>
          </a:xfrm>
          <a:prstGeom prst="rect">
            <a:avLst/>
          </a:prstGeom>
          <a:solidFill>
            <a:srgbClr val="00B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430768" y="3520440"/>
            <a:ext cx="3291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5568"/>
                </a:solidFill>
              </a:rP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30768" y="4114800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1B2A"/>
                </a:solidFill>
              </a:rPr>
              <a:t>Langfuse Traces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67928" y="4572000"/>
            <a:ext cx="3017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5568"/>
                </a:solidFill>
              </a:rPr>
              <a:t>Every agent step traced
and observable in real time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19088"/>
            <a:ext cx="12188952" cy="438912"/>
          </a:xfrm>
          <a:prstGeom prst="rect">
            <a:avLst/>
          </a:prstGeom>
          <a:solidFill>
            <a:srgbClr val="F4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57200" y="64556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18096"/>
                </a:solidFill>
              </a:rPr>
              <a:t>Built by Ganesh Suni Jathar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55664"/>
            <a:ext cx="5486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1">
                <a:solidFill>
                  <a:srgbClr val="00B388"/>
                </a:solidFill>
              </a:rPr>
              <a:t>github.com/your-handle/kaigo-navigator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951</Words>
  <Application>Microsoft Macintosh PowerPoint</Application>
  <PresentationFormat>Custom</PresentationFormat>
  <Paragraphs>172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Jathar, GaneshSunil | INPD</cp:lastModifiedBy>
  <cp:revision>2</cp:revision>
  <dcterms:created xsi:type="dcterms:W3CDTF">2013-01-27T09:14:16Z</dcterms:created>
  <dcterms:modified xsi:type="dcterms:W3CDTF">2026-05-10T10:39:16Z</dcterms:modified>
  <cp:category/>
</cp:coreProperties>
</file>